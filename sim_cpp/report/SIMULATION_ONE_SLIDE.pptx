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11183112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1A"/>
                </a:solidFill>
                <a:latin typeface="Calibri"/>
              </a:rPr>
              <a:t>East Rail closure sandbox: 10,000 passengers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33271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alibri"/>
              </a:rPr>
              <a:t>KOT → EXC  ·  13:00–15:00  ·  ERL HUH–EXC closed 14:00–15:00  ·  seed 20260922  ·  five personas × 2,000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520440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520440" cy="64008"/>
          </a:xfrm>
          <a:prstGeom prst="rect">
            <a:avLst/>
          </a:prstGeom>
          <a:solidFill>
            <a:srgbClr val="2E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73351"/>
            <a:ext cx="31912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FORCED ALIGHT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65960"/>
            <a:ext cx="31912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000" b="1">
                <a:solidFill>
                  <a:srgbClr val="2E6B2E"/>
                </a:solidFill>
                <a:latin typeface="Calibri"/>
              </a:rPr>
              <a:t>0</a:t>
            </a:r>
            <a:r>
              <a:rPr sz="1200" b="1">
                <a:solidFill>
                  <a:srgbClr val="2E6B2E"/>
                </a:solidFill>
                <a:latin typeface="Calibri"/>
              </a:rPr>
              <a:t> 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07208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 0   ·   C 633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511295"/>
            <a:ext cx="3191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2E6B2E"/>
                </a:solidFill>
                <a:latin typeface="Calibri"/>
              </a:rPr>
              <a:t>B superiority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508760"/>
            <a:ext cx="3520440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508760"/>
            <a:ext cx="352044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673351"/>
            <a:ext cx="31912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WORST-CASE ARRIVAL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965960"/>
            <a:ext cx="31912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000" b="1">
                <a:solidFill>
                  <a:srgbClr val="1F4E79"/>
                </a:solidFill>
                <a:latin typeface="Calibri"/>
              </a:rPr>
              <a:t>30</a:t>
            </a:r>
            <a:r>
              <a:rPr sz="1200" b="1">
                <a:solidFill>
                  <a:srgbClr val="1F4E79"/>
                </a:solidFill>
                <a:latin typeface="Calibri"/>
              </a:rPr>
              <a:t>  min ·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807208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 0   ·   C 60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511295"/>
            <a:ext cx="3191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F4E79"/>
                </a:solidFill>
                <a:latin typeface="Calibri"/>
              </a:rPr>
              <a:t>B superiority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65592" y="1508760"/>
            <a:ext cx="3520440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1508760"/>
            <a:ext cx="3520440" cy="64008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1673351"/>
            <a:ext cx="31912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66666"/>
                </a:solidFill>
                <a:latin typeface="Calibri"/>
              </a:rPr>
              <a:t>MEAN ARRIVAL DELAY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1965960"/>
            <a:ext cx="319125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000" b="1">
                <a:solidFill>
                  <a:srgbClr val="1A1A1A"/>
                </a:solidFill>
                <a:latin typeface="Calibri"/>
              </a:rPr>
              <a:t>9.37</a:t>
            </a:r>
            <a:r>
              <a:rPr sz="1200" b="1">
                <a:solidFill>
                  <a:srgbClr val="1A1A1A"/>
                </a:solidFill>
                <a:latin typeface="Calibri"/>
              </a:rPr>
              <a:t>  min ·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807208"/>
            <a:ext cx="31912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 0.00   ·   C 9.50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3511295"/>
            <a:ext cx="31912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66666"/>
                </a:solidFill>
                <a:latin typeface="Calibri"/>
              </a:rPr>
              <a:t>barely different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6720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F4E79"/>
                </a:solidFill>
                <a:latin typeface="Calibri"/>
              </a:rPr>
              <a:t>WHAT MOVED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43984"/>
            <a:ext cx="67208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•  B: 0 forced alight, 30-min worst case, 2.8 m walk.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27448"/>
            <a:ext cx="67208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•  C: 633 forced alight, 60-min worst case, 16.8 m walk.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10912"/>
            <a:ext cx="67208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•  B trades a 1-min worse P95 for a 30-min shorter worst case.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94375"/>
            <a:ext cx="67208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•  Peak train load 36.2% (B) vs 34.8% (C); bus peak 54.6%; 95% cap; 0 denied.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4133087"/>
            <a:ext cx="4187952" cy="162763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4133087"/>
            <a:ext cx="64008" cy="16276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7536" y="4242816"/>
            <a:ext cx="37490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666666"/>
                </a:solidFill>
                <a:latin typeface="Calibri"/>
              </a:rPr>
              <a:t>INTERESTING NUMBER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6" y="4443984"/>
            <a:ext cx="1417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C00000"/>
                </a:solidFill>
                <a:latin typeface="Calibri"/>
              </a:rPr>
              <a:t>633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4498848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C forced alight;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4791456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B: zero.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536" y="5193792"/>
            <a:ext cx="3749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A: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925312"/>
            <a:ext cx="11183112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998464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Peak train load 36.2% (B) vs 34.8% (C)  ·  95% cap  ·  0 denied  ·  10,000 served  ·  0 censored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199632"/>
            <a:ext cx="10881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Bucket cap 3,400/460 is a planning cap, not the 95% train cap  ·  71 bus spillover  ·  686 fallback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37960"/>
            <a:ext cx="9875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B plans against the published closure window; C reacts only at departure. Sandbox output, not an official forecast.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37960"/>
            <a:ext cx="228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1/1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